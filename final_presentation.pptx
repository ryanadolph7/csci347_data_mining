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64" r:id="rId5"/>
    <p:sldId id="265" r:id="rId6"/>
    <p:sldId id="261" r:id="rId7"/>
    <p:sldId id="262" r:id="rId8"/>
    <p:sldId id="263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A48307-69DF-474C-8D55-EB11E5933EBC}" v="3" dt="2026-04-28T19:34:30.9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5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836EB-EDEB-303A-3649-429073ABB5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Credit Risk Uncovered: A Comparative Study of Classification Models for Default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0B34C-8443-9095-FCB2-1EF04AB996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Braeden Olds, Ryan Adolph, Michael Oswald</a:t>
            </a:r>
          </a:p>
        </p:txBody>
      </p:sp>
    </p:spTree>
    <p:extLst>
      <p:ext uri="{BB962C8B-B14F-4D97-AF65-F5344CB8AC3E}">
        <p14:creationId xmlns:p14="http://schemas.microsoft.com/office/powerpoint/2010/main" val="2034320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286C-D8E2-F03E-FAEF-533433D2D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48816-59D8-EABE-B7F0-83E51B4A6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 of this project is to be able to predict whether a credit card client will default on their payments in the following months</a:t>
            </a:r>
          </a:p>
          <a:p>
            <a:r>
              <a:rPr lang="en-US" dirty="0"/>
              <a:t>There are several real-world applications to this project. One of the main applications would be for financial institutes or credit card vendors. </a:t>
            </a:r>
          </a:p>
          <a:p>
            <a:pPr lvl="1"/>
            <a:r>
              <a:rPr lang="en-US" dirty="0"/>
              <a:t>Identifying a client as low-risk when they are high-risk client could cause financial loss. </a:t>
            </a:r>
          </a:p>
          <a:p>
            <a:pPr lvl="1"/>
            <a:r>
              <a:rPr lang="en-US" dirty="0"/>
              <a:t>Being overly conservative and labeling every customer as medium to high-risk could also cause financial loss from minimal business opportunities.</a:t>
            </a:r>
          </a:p>
          <a:p>
            <a:r>
              <a:rPr lang="en-US" dirty="0"/>
              <a:t>The problem is designed as a supervised binary classification problem</a:t>
            </a:r>
          </a:p>
          <a:p>
            <a:pPr lvl="1"/>
            <a:r>
              <a:rPr lang="en-US" dirty="0"/>
              <a:t>Supervised binary classification problems are classic machine learning where a model is trained on data to categorize its input into one of two distinct categories or classes. Our designated classes are as follows. </a:t>
            </a:r>
          </a:p>
          <a:p>
            <a:pPr lvl="1"/>
            <a:r>
              <a:rPr lang="en-US" dirty="0"/>
              <a:t>Target Class 0: The client doesn’t default</a:t>
            </a:r>
          </a:p>
          <a:p>
            <a:pPr lvl="1"/>
            <a:r>
              <a:rPr lang="en-US" dirty="0"/>
              <a:t>Target Class 1: The client defaults</a:t>
            </a:r>
          </a:p>
        </p:txBody>
      </p:sp>
    </p:spTree>
    <p:extLst>
      <p:ext uri="{BB962C8B-B14F-4D97-AF65-F5344CB8AC3E}">
        <p14:creationId xmlns:p14="http://schemas.microsoft.com/office/powerpoint/2010/main" val="1524181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FA0A1AD-DEE2-4598-8D3B-C1F65F315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2E8AD-D7A3-A9E7-72B4-24EAE8AAD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290" y="640079"/>
            <a:ext cx="5997678" cy="13633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Data Overview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25E9088-17B1-FFAB-477C-F5430B4D950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04234" y="640080"/>
            <a:ext cx="1878841" cy="558810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72AB4-73C3-7058-E6CB-E76D4354F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65290" y="2325158"/>
            <a:ext cx="6015571" cy="385497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Consisted of financial and demographic information for credit card clients, which made this data set particularly relevant to our project</a:t>
            </a:r>
          </a:p>
          <a:p>
            <a:pPr lvl="1"/>
            <a:r>
              <a:rPr lang="en-US" dirty="0"/>
              <a:t>Instances: 30,000</a:t>
            </a:r>
          </a:p>
          <a:p>
            <a:pPr lvl="1"/>
            <a:r>
              <a:rPr lang="en-US" dirty="0"/>
              <a:t>Attributes: 23 input features + 1 target variable</a:t>
            </a:r>
          </a:p>
          <a:p>
            <a:pPr lvl="1"/>
            <a:r>
              <a:rPr lang="en-US" dirty="0"/>
              <a:t>Target Variable: </a:t>
            </a:r>
            <a:r>
              <a:rPr lang="en-US" dirty="0" err="1"/>
              <a:t>default_next_month</a:t>
            </a:r>
            <a:endParaRPr lang="en-US" dirty="0"/>
          </a:p>
          <a:p>
            <a:pPr lvl="1"/>
            <a:r>
              <a:rPr lang="en-US" dirty="0"/>
              <a:t>Missing Values: 0</a:t>
            </a:r>
          </a:p>
          <a:p>
            <a:pPr lvl="1"/>
            <a:r>
              <a:rPr lang="en-US" dirty="0"/>
              <a:t>Duplicate Rows: 35</a:t>
            </a:r>
          </a:p>
          <a:p>
            <a:pPr lvl="1"/>
            <a:r>
              <a:rPr lang="en-US" dirty="0"/>
              <a:t>Categorical: 3 (SEX, EDUCATION, MARIAGE)</a:t>
            </a:r>
          </a:p>
          <a:p>
            <a:pPr lvl="2"/>
            <a:r>
              <a:rPr lang="en-US" dirty="0"/>
              <a:t>One hot encoding was done to convert these to numerical variables </a:t>
            </a:r>
          </a:p>
          <a:p>
            <a:pPr lvl="1"/>
            <a:r>
              <a:rPr lang="en-US" dirty="0"/>
              <a:t>Numerical: 20</a:t>
            </a:r>
          </a:p>
        </p:txBody>
      </p:sp>
    </p:spTree>
    <p:extLst>
      <p:ext uri="{BB962C8B-B14F-4D97-AF65-F5344CB8AC3E}">
        <p14:creationId xmlns:p14="http://schemas.microsoft.com/office/powerpoint/2010/main" val="2421243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44C5F8A-F34F-401A-A9CA-A9F426356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6D409-6CD2-1F14-A31A-E55AE979B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640081"/>
            <a:ext cx="4954920" cy="16069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Original Class and Age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46117-D025-A335-A490-88B65B573C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1872" y="2560106"/>
            <a:ext cx="4954920" cy="372480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Some imbalance in our data set shows that most of our current clients are non-default clients, meaning accuracy may be skewed since predicting a majority could be easy </a:t>
            </a:r>
          </a:p>
          <a:p>
            <a:r>
              <a:rPr lang="en-US" dirty="0"/>
              <a:t>A large distribution of our clients are also younger clients with very few over 60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F210EFB8-9091-C460-0AF3-58AF7F105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903" y="640081"/>
            <a:ext cx="3715758" cy="26288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A098F0-36B6-2FD5-D935-AB35AE64A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828" y="3589021"/>
            <a:ext cx="3973908" cy="245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19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44C5F8A-F34F-401A-A9CA-A9F426356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02E63B-32D2-A76D-DD28-064D59C59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640081"/>
            <a:ext cx="4954920" cy="16069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/>
              <a:t>Payment History and Default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35F4C-F652-B7FE-FB5C-C6674175CE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1872" y="2560106"/>
            <a:ext cx="4954920" cy="372480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Selected financial variables are compared between clients who have defaulted and those who have not</a:t>
            </a:r>
          </a:p>
          <a:p>
            <a:pPr lvl="1"/>
            <a:endParaRPr lang="en-US" dirty="0"/>
          </a:p>
          <a:p>
            <a:r>
              <a:rPr lang="en-US" dirty="0"/>
              <a:t>The average payment history by default status is a more important graph however</a:t>
            </a:r>
          </a:p>
          <a:p>
            <a:pPr lvl="1"/>
            <a:r>
              <a:rPr lang="en-US" dirty="0"/>
              <a:t>Shows clients who default tend to have worse recent payment values</a:t>
            </a:r>
          </a:p>
          <a:p>
            <a:pPr lvl="1"/>
            <a:r>
              <a:rPr lang="en-US" dirty="0"/>
              <a:t>Supports the idea that recent payment delays are strong indicators of default risk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AEF7F97-79F2-FDAE-EACB-43AD8A7EFB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49707" y="640081"/>
            <a:ext cx="3968150" cy="2628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2365FB-DAE5-006A-F365-BD9436622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828" y="3589021"/>
            <a:ext cx="3973908" cy="195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67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FA0A1AD-DEE2-4598-8D3B-C1F65F315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BD975E-7A1E-CB31-56CA-BD299A072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74" y="677863"/>
            <a:ext cx="4534047" cy="13255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Attribute Distribution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61CA0-16BD-D01A-2C39-75F3191FD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8874" y="2325158"/>
            <a:ext cx="4534048" cy="3854979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7BE1CD-CE70-CF94-94B9-075DE2991F6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633157" y="1286391"/>
            <a:ext cx="5209989" cy="428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00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2569-90C5-FE80-013C-B44377C7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A4B51-B997-3D64-6AA1-76B4D770B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Categorical Variables were transformed through one-hot encoding</a:t>
            </a:r>
          </a:p>
          <a:p>
            <a:pPr lvl="1"/>
            <a:r>
              <a:rPr lang="en-US" dirty="0"/>
              <a:t>One-hot encoding was chosen over label encoding because variables had no inherent order, so we wanted to prevent false ranking of clients</a:t>
            </a:r>
          </a:p>
          <a:p>
            <a:r>
              <a:rPr lang="en-US" dirty="0"/>
              <a:t>Features were standardized using z-score standardization to ensure all features contribute equally to distance-based computations (i.e. KNN and logistic regression) </a:t>
            </a:r>
          </a:p>
          <a:p>
            <a:r>
              <a:rPr lang="en-US" dirty="0"/>
              <a:t>2 preprocessing pipelines were constructed for both computation models </a:t>
            </a:r>
          </a:p>
          <a:p>
            <a:pPr lvl="1"/>
            <a:r>
              <a:rPr lang="en-US" dirty="0"/>
              <a:t>Scaled pipeline for feature magnitude sensitive models</a:t>
            </a:r>
          </a:p>
          <a:p>
            <a:pPr lvl="1"/>
            <a:r>
              <a:rPr lang="en-US" dirty="0"/>
              <a:t>Non-scaled pipeline for tree-based models</a:t>
            </a:r>
          </a:p>
          <a:p>
            <a:pPr lvl="1"/>
            <a:r>
              <a:rPr lang="en-US" dirty="0"/>
              <a:t>Ensures that each model receives the correct preprocessed data to improve performance while preventing data leakage during cross validation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563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AD153-7958-5B24-9A90-C062C032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 / 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F0E51-3500-23A8-0034-CA7E17519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Logistic Regression</a:t>
            </a:r>
          </a:p>
          <a:p>
            <a:pPr lvl="1"/>
            <a:r>
              <a:rPr lang="en-US" dirty="0"/>
              <a:t>Its simplicity and interpretability can serve as a baseline model while providing insight into linear relationship between features and our target variable</a:t>
            </a:r>
          </a:p>
          <a:p>
            <a:r>
              <a:rPr lang="en-US" dirty="0"/>
              <a:t>Decision Trees</a:t>
            </a:r>
          </a:p>
          <a:p>
            <a:pPr lvl="1"/>
            <a:r>
              <a:rPr lang="en-US" dirty="0"/>
              <a:t>Capture nonlinear relationships or interactions between our variables </a:t>
            </a:r>
          </a:p>
          <a:p>
            <a:r>
              <a:rPr lang="en-US" dirty="0"/>
              <a:t>Random Forest</a:t>
            </a:r>
          </a:p>
          <a:p>
            <a:pPr lvl="1"/>
            <a:r>
              <a:rPr lang="en-US" dirty="0"/>
              <a:t>Improves upon Decision Trees by aggregating multiple trees, reducing variance and improving generalization</a:t>
            </a:r>
          </a:p>
          <a:p>
            <a:r>
              <a:rPr lang="en-US" dirty="0"/>
              <a:t>K-Nearest Neighbors (KNN)</a:t>
            </a:r>
          </a:p>
          <a:p>
            <a:pPr lvl="1"/>
            <a:r>
              <a:rPr lang="en-US" dirty="0"/>
              <a:t>Non-parametric, instance-based learning method that classifies samples based on proximity to neighbors. </a:t>
            </a:r>
          </a:p>
          <a:p>
            <a:r>
              <a:rPr lang="en-US" dirty="0"/>
              <a:t>Gradient Boosting</a:t>
            </a:r>
          </a:p>
          <a:p>
            <a:pPr lvl="1"/>
            <a:r>
              <a:rPr lang="en-US" dirty="0"/>
              <a:t>Builds models sequentially, correcting previous errors at each step. Known for strong performance on structured datasets </a:t>
            </a:r>
          </a:p>
        </p:txBody>
      </p:sp>
    </p:spTree>
    <p:extLst>
      <p:ext uri="{BB962C8B-B14F-4D97-AF65-F5344CB8AC3E}">
        <p14:creationId xmlns:p14="http://schemas.microsoft.com/office/powerpoint/2010/main" val="2991371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04E86-517F-3055-2987-652F5B082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75CF7-B05D-702B-00CA-C38D5E83D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Set</a:t>
            </a:r>
          </a:p>
          <a:p>
            <a:pPr lvl="1"/>
            <a:r>
              <a:rPr lang="en-US" dirty="0"/>
              <a:t>Yeh, I. (2009). Default of Credit Card Clients [Dataset]. UCI Machine Learning Repository. https://doi.org/10.24432/C55S3H.</a:t>
            </a:r>
          </a:p>
        </p:txBody>
      </p:sp>
    </p:spTree>
    <p:extLst>
      <p:ext uri="{BB962C8B-B14F-4D97-AF65-F5344CB8AC3E}">
        <p14:creationId xmlns:p14="http://schemas.microsoft.com/office/powerpoint/2010/main" val="5330906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Words>573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Schoolbook</vt:lpstr>
      <vt:lpstr>Wingdings 2</vt:lpstr>
      <vt:lpstr>View</vt:lpstr>
      <vt:lpstr>Credit Risk Uncovered: A Comparative Study of Classification Models for Default Prediction</vt:lpstr>
      <vt:lpstr>Overview</vt:lpstr>
      <vt:lpstr>Data Overview </vt:lpstr>
      <vt:lpstr>Original Class and Age Distribution</vt:lpstr>
      <vt:lpstr>Payment History and Default Status</vt:lpstr>
      <vt:lpstr>Attribute Distribution</vt:lpstr>
      <vt:lpstr>Preprocessing Techniques</vt:lpstr>
      <vt:lpstr>Techniques / Models Used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Adolph, Ryan</dc:creator>
  <cp:lastModifiedBy>Ryan Adolph</cp:lastModifiedBy>
  <cp:revision>3</cp:revision>
  <dcterms:created xsi:type="dcterms:W3CDTF">2026-04-28T18:28:57Z</dcterms:created>
  <dcterms:modified xsi:type="dcterms:W3CDTF">2026-04-28T19:40:46Z</dcterms:modified>
</cp:coreProperties>
</file>