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840" r:id="rId1"/>
  </p:sldMasterIdLst>
  <p:sldIdLst>
    <p:sldId id="256" r:id="rId2"/>
    <p:sldId id="257" r:id="rId3"/>
    <p:sldId id="258" r:id="rId4"/>
    <p:sldId id="260" r:id="rId5"/>
    <p:sldId id="264" r:id="rId6"/>
    <p:sldId id="261" r:id="rId7"/>
    <p:sldId id="262" r:id="rId8"/>
    <p:sldId id="263" r:id="rId9"/>
    <p:sldId id="259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653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720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61872" y="4800600"/>
            <a:ext cx="9418320" cy="1691640"/>
          </a:xfrm>
        </p:spPr>
        <p:txBody>
          <a:bodyPr>
            <a:normAutofit/>
          </a:bodyPr>
          <a:lstStyle>
            <a:lvl1pPr marL="0" indent="0" algn="l">
              <a:buNone/>
              <a:defRPr sz="2200" baseline="0">
                <a:solidFill>
                  <a:schemeClr val="tx1">
                    <a:lumMod val="75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</a:schemeClr>
                </a:solidFill>
              </a:defRPr>
            </a:lvl1pPr>
          </a:lstStyle>
          <a:p>
            <a:fld id="{9E016143-E03C-4CFD-AFDC-14E5BDEA754C}" type="datetimeFigureOut">
              <a:rPr lang="en-US" dirty="0"/>
              <a:t>4/28/2026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C94063-DF36-4330-A365-08DA1FA5B7D6}" type="datetimeFigureOut">
              <a:rPr lang="en-US" dirty="0"/>
              <a:t>4/28/2026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>
              <a:lnSpc>
                <a:spcPct val="85000"/>
              </a:lnSpc>
              <a:defRPr sz="7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4800600"/>
            <a:ext cx="9418320" cy="1691640"/>
          </a:xfrm>
        </p:spPr>
        <p:txBody>
          <a:bodyPr anchor="t">
            <a:normAutofit/>
          </a:bodyPr>
          <a:lstStyle>
            <a:lvl1pPr marL="0" indent="0">
              <a:buNone/>
              <a:defRPr sz="2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8A7C6C-0F39-4D70-8E8D-FE5B9C95FA73}" type="datetimeFigureOut">
              <a:rPr lang="en-US" dirty="0"/>
              <a:t>4/28/2026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61872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6480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CFA4AC-08CC-42CE-BD01-C191750A04EC}" type="datetimeFigureOut">
              <a:rPr lang="en-US" dirty="0"/>
              <a:t>4/28/2026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61872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26480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lnSpc>
                <a:spcPct val="95000"/>
              </a:lnSpc>
              <a:spcBef>
                <a:spcPts val="0"/>
              </a:spcBef>
              <a:buNone/>
              <a:defRPr lang="en-US" sz="2000" b="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2000"/>
              </a:spcBef>
              <a:buFontTx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26480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A7A723-92A7-435B-B681-F25B092FEFEB}" type="datetimeFigureOut">
              <a:rPr lang="en-US" dirty="0"/>
              <a:t>4/28/2026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170639-886C-4FCF-9EAB-ABB5DA3F3F4A}" type="datetimeFigureOut">
              <a:rPr lang="en-US" dirty="0"/>
              <a:t>4/28/2026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30651-31F4-45D2-98AE-A2108F41BC07}" type="datetimeFigureOut">
              <a:rPr lang="en-US" dirty="0"/>
              <a:t>4/28/2026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200400" cy="1600197"/>
          </a:xfrm>
        </p:spPr>
        <p:txBody>
          <a:bodyPr anchor="b">
            <a:normAutofit/>
          </a:bodyPr>
          <a:lstStyle>
            <a:lvl1pPr>
              <a:defRPr sz="3200" b="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04267" y="685800"/>
            <a:ext cx="6079066" cy="548640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99734"/>
            <a:ext cx="3200400" cy="3810001"/>
          </a:xfrm>
        </p:spPr>
        <p:txBody>
          <a:bodyPr>
            <a:normAutofit/>
          </a:bodyPr>
          <a:lstStyle>
            <a:lvl1pPr marL="0" indent="0">
              <a:lnSpc>
                <a:spcPct val="114000"/>
              </a:lnSpc>
              <a:spcBef>
                <a:spcPts val="800"/>
              </a:spcBef>
              <a:buNone/>
              <a:defRPr sz="13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3789A-C914-4DB1-8815-80B5EC7335C5}" type="datetimeFigureOut">
              <a:rPr lang="en-US" dirty="0"/>
              <a:t>4/28/2026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5105400"/>
            <a:ext cx="11292840" cy="17526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5257800"/>
            <a:ext cx="9982200" cy="914400"/>
          </a:xfrm>
        </p:spPr>
        <p:txBody>
          <a:bodyPr anchor="b">
            <a:normAutofit/>
          </a:bodyPr>
          <a:lstStyle>
            <a:lvl1pPr>
              <a:defRPr sz="2800" b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1292840" cy="5128923"/>
          </a:xfrm>
          <a:solidFill>
            <a:schemeClr val="accent1"/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4400" y="6108589"/>
            <a:ext cx="9982200" cy="59701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800"/>
              </a:spcBef>
              <a:buNone/>
              <a:defRPr sz="1300">
                <a:solidFill>
                  <a:schemeClr val="bg1">
                    <a:lumMod val="8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6440AA-91A0-436F-8FDB-C0F939DCAE21}" type="datetimeFigureOut">
              <a:rPr lang="en-US" dirty="0"/>
              <a:t>4/28/2026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33E54A-A8CA-48C1-9504-691B58049D29}" type="datetimeFigureOut">
              <a:rPr lang="en-US" dirty="0"/>
              <a:t>4/28/2026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48700" y="381000"/>
            <a:ext cx="2476500" cy="589756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381000"/>
            <a:ext cx="7734300" cy="589756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F6C806-BBF7-471C-9527-881CE2266695}" type="datetimeFigureOut">
              <a:rPr lang="en-US" dirty="0"/>
              <a:t>4/28/2026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61872" y="365760"/>
            <a:ext cx="9692640" cy="132556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828800"/>
            <a:ext cx="859536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16200000">
            <a:off x="10797542" y="998537"/>
            <a:ext cx="1904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 b="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fld id="{0E59FD0C-5451-4CA0-86AF-E70AE3279989}" type="datetimeFigureOut">
              <a:rPr lang="en-US" dirty="0"/>
              <a:t>4/28/2026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16200000">
            <a:off x="9959341" y="4046537"/>
            <a:ext cx="358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92840" y="6172200"/>
            <a:ext cx="914400" cy="593725"/>
          </a:xfrm>
          <a:prstGeom prst="rect">
            <a:avLst/>
          </a:prstGeom>
        </p:spPr>
        <p:txBody>
          <a:bodyPr vert="horz" lIns="45720" tIns="45720" rIns="45720" bIns="45720" rtlCol="0" anchor="ctr">
            <a:normAutofit/>
          </a:bodyPr>
          <a:lstStyle>
            <a:lvl1pPr algn="ctr">
              <a:defRPr sz="36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41" r:id="rId1"/>
    <p:sldLayoutId id="2147483842" r:id="rId2"/>
    <p:sldLayoutId id="2147483843" r:id="rId3"/>
    <p:sldLayoutId id="2147483844" r:id="rId4"/>
    <p:sldLayoutId id="2147483845" r:id="rId5"/>
    <p:sldLayoutId id="2147483846" r:id="rId6"/>
    <p:sldLayoutId id="2147483847" r:id="rId7"/>
    <p:sldLayoutId id="2147483848" r:id="rId8"/>
    <p:sldLayoutId id="2147483849" r:id="rId9"/>
    <p:sldLayoutId id="2147483850" r:id="rId10"/>
    <p:sldLayoutId id="2147483851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spc="-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5000"/>
        </a:lnSpc>
        <a:spcBef>
          <a:spcPts val="1400"/>
        </a:spcBef>
        <a:spcAft>
          <a:spcPts val="200"/>
        </a:spcAft>
        <a:buClr>
          <a:schemeClr val="accent1"/>
        </a:buClr>
        <a:buSzPct val="80000"/>
        <a:buFont typeface="Arial" pitchFamily="34" charset="0"/>
        <a:buChar char="•"/>
        <a:defRPr sz="1800" kern="1200" spc="10" baseline="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836EB-EDEB-303A-3649-429073ABB5B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Credit Risk Uncovered: A Comparative Study of Classification Models for Default Prediction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460B34C-8443-9095-FCB2-1EF04AB996E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Braeden Olds, Ryan Adolph, Michael Oswald</a:t>
            </a:r>
          </a:p>
        </p:txBody>
      </p:sp>
    </p:spTree>
    <p:extLst>
      <p:ext uri="{BB962C8B-B14F-4D97-AF65-F5344CB8AC3E}">
        <p14:creationId xmlns:p14="http://schemas.microsoft.com/office/powerpoint/2010/main" val="20343208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D6286C-D8E2-F03E-FAEF-533433D2D7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48816-59D8-EABE-B7F0-83E51B4A62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goal of this project is to be able to predict whether a credit card client will default on their payments in the following months</a:t>
            </a:r>
          </a:p>
          <a:p>
            <a:r>
              <a:rPr lang="en-US" dirty="0"/>
              <a:t>There are several real-world applications to this project. One of the main applications would be for financial institutes or credit card vendors. </a:t>
            </a:r>
          </a:p>
          <a:p>
            <a:pPr lvl="1"/>
            <a:r>
              <a:rPr lang="en-US" dirty="0"/>
              <a:t>Identifying a client as low-risk when they are high-risk client could cause financial loss. </a:t>
            </a:r>
          </a:p>
          <a:p>
            <a:pPr lvl="1"/>
            <a:r>
              <a:rPr lang="en-US" dirty="0"/>
              <a:t>Being overly conservative and labeling every customer as medium to high-risk could also cause financial loss from minimal business opportunities.</a:t>
            </a:r>
          </a:p>
          <a:p>
            <a:r>
              <a:rPr lang="en-US" dirty="0"/>
              <a:t>The problem is designed as a supervised binary classification problem</a:t>
            </a:r>
          </a:p>
          <a:p>
            <a:pPr lvl="1"/>
            <a:r>
              <a:rPr lang="en-US" dirty="0"/>
              <a:t>Supervised binary classification problems are classic machine learning where a model is trained on data to categorize its input into one of two distinct categories or classes. Our designated classes are as follows. </a:t>
            </a:r>
          </a:p>
          <a:p>
            <a:pPr lvl="1"/>
            <a:r>
              <a:rPr lang="en-US" dirty="0"/>
              <a:t>Target Class 0: The client doesn’t default</a:t>
            </a:r>
          </a:p>
          <a:p>
            <a:pPr lvl="1"/>
            <a:r>
              <a:rPr lang="en-US" dirty="0"/>
              <a:t>Target Class 1: The client defaults</a:t>
            </a:r>
          </a:p>
        </p:txBody>
      </p:sp>
    </p:spTree>
    <p:extLst>
      <p:ext uri="{BB962C8B-B14F-4D97-AF65-F5344CB8AC3E}">
        <p14:creationId xmlns:p14="http://schemas.microsoft.com/office/powerpoint/2010/main" val="15241810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6FA0A1AD-DEE2-4598-8D3B-C1F65F315A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A2E8AD-D7A3-A9E7-72B4-24EAE8AADB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65290" y="640079"/>
            <a:ext cx="5997678" cy="136334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Data Overview 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325E9088-17B1-FFAB-477C-F5430B4D950F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704234" y="640080"/>
            <a:ext cx="1878841" cy="5588101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7472AB4-73C3-7058-E6CB-E76D4354FE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965290" y="2325158"/>
            <a:ext cx="6015571" cy="3854979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dirty="0"/>
              <a:t>Consisted of financial and demographic information for credit card clients, which made this data set particularly relevant to our project</a:t>
            </a:r>
          </a:p>
          <a:p>
            <a:pPr lvl="1"/>
            <a:r>
              <a:rPr lang="en-US" dirty="0"/>
              <a:t>Instances: 30,000</a:t>
            </a:r>
          </a:p>
          <a:p>
            <a:pPr lvl="1"/>
            <a:r>
              <a:rPr lang="en-US" dirty="0"/>
              <a:t>Attributes: 23 input features + 1 target variable</a:t>
            </a:r>
          </a:p>
          <a:p>
            <a:pPr lvl="1"/>
            <a:r>
              <a:rPr lang="en-US" dirty="0"/>
              <a:t>Target Variable: </a:t>
            </a:r>
            <a:r>
              <a:rPr lang="en-US" dirty="0" err="1"/>
              <a:t>default_next_month</a:t>
            </a:r>
            <a:endParaRPr lang="en-US" dirty="0"/>
          </a:p>
          <a:p>
            <a:pPr lvl="1"/>
            <a:r>
              <a:rPr lang="en-US" dirty="0"/>
              <a:t>Missing Values: 0</a:t>
            </a:r>
          </a:p>
          <a:p>
            <a:pPr lvl="1"/>
            <a:r>
              <a:rPr lang="en-US" dirty="0"/>
              <a:t>Duplicate Rows: 35</a:t>
            </a:r>
          </a:p>
          <a:p>
            <a:pPr lvl="1"/>
            <a:r>
              <a:rPr lang="en-US" dirty="0"/>
              <a:t>Categorical: 3 (SEX, EDUCATION, MARIAGE)</a:t>
            </a:r>
          </a:p>
          <a:p>
            <a:pPr lvl="2"/>
            <a:r>
              <a:rPr lang="en-US" dirty="0"/>
              <a:t>One hot encoding was done to convert these to numerical variables </a:t>
            </a:r>
          </a:p>
          <a:p>
            <a:pPr lvl="1"/>
            <a:r>
              <a:rPr lang="en-US" dirty="0"/>
              <a:t>Numerical: 20</a:t>
            </a:r>
          </a:p>
        </p:txBody>
      </p:sp>
    </p:spTree>
    <p:extLst>
      <p:ext uri="{BB962C8B-B14F-4D97-AF65-F5344CB8AC3E}">
        <p14:creationId xmlns:p14="http://schemas.microsoft.com/office/powerpoint/2010/main" val="24212433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EC940-60E9-1F1B-51D7-741096F0E8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     Original Class Distribution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253D337-FF55-C7FD-3AE9-D3BBBDAB729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89297" y="1963479"/>
            <a:ext cx="6149410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82407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344C5F8A-F34F-401A-A9CA-A9F426356C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F26D409-6CD2-1F14-A31A-E55AE979B4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1872" y="640081"/>
            <a:ext cx="4954920" cy="1606948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Original Class and Age Distribution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F46117-D025-A335-A490-88B65B573C0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61872" y="2560106"/>
            <a:ext cx="4954920" cy="3724805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dirty="0"/>
              <a:t>Some imbalance in our data set shows that most of our current clients are non-default clients, meaning accuracy may be skewed since predicting a majority could be easy </a:t>
            </a:r>
          </a:p>
          <a:p>
            <a:r>
              <a:rPr lang="en-US" dirty="0"/>
              <a:t>A large distribution of our clients are also younger clients with very few over 60</a:t>
            </a:r>
          </a:p>
        </p:txBody>
      </p:sp>
      <p:pic>
        <p:nvPicPr>
          <p:cNvPr id="7" name="Content Placeholder 4">
            <a:extLst>
              <a:ext uri="{FF2B5EF4-FFF2-40B4-BE49-F238E27FC236}">
                <a16:creationId xmlns:a16="http://schemas.microsoft.com/office/drawing/2014/main" id="{F210EFB8-9091-C460-0AF3-58AF7F105F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5903" y="640081"/>
            <a:ext cx="3715758" cy="262889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DA098F0-36B6-2FD5-D935-AB35AE64AD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6828" y="3589021"/>
            <a:ext cx="3973908" cy="24538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88191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6FA0A1AD-DEE2-4598-8D3B-C1F65F315A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4BD975E-7A1E-CB31-56CA-BD299A072F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874" y="677863"/>
            <a:ext cx="4534047" cy="132556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Attribute Distribution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761CA0-16BD-D01A-2C39-75F3191FDF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18874" y="2325158"/>
            <a:ext cx="4534048" cy="3854979"/>
          </a:xfrm>
        </p:spPr>
        <p:txBody>
          <a:bodyPr vert="horz" lIns="91440" tIns="45720" rIns="91440" bIns="45720" rtlCol="0">
            <a:normAutofit/>
          </a:bodyPr>
          <a:lstStyle/>
          <a:p>
            <a:endParaRPr lang="en-US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7F7BE1CD-CE70-CF94-94B9-075DE2991F66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5633157" y="1286391"/>
            <a:ext cx="5209989" cy="4285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6008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9A2569-90C5-FE80-013C-B44377C740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Preprocessing Techniques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EA4B51-B997-3D64-6AA1-76B4D770BA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Categorical Variables were transformed through one-hot encoding</a:t>
            </a:r>
          </a:p>
          <a:p>
            <a:pPr lvl="1"/>
            <a:r>
              <a:rPr lang="en-US" dirty="0"/>
              <a:t>One-hot encoding was chosen over label encoding because variables had no inherent order, so we wanted to prevent false ranking of clients</a:t>
            </a:r>
          </a:p>
          <a:p>
            <a:r>
              <a:rPr lang="en-US" dirty="0"/>
              <a:t>Features were standardized using z-score standardization to ensure all features contribute equally to distance-based computations (i.e. KNN and logistic regression) </a:t>
            </a:r>
          </a:p>
          <a:p>
            <a:r>
              <a:rPr lang="en-US" dirty="0"/>
              <a:t>2 preprocessing pipelines were constructed for both computation models </a:t>
            </a:r>
          </a:p>
          <a:p>
            <a:pPr lvl="1"/>
            <a:r>
              <a:rPr lang="en-US" dirty="0"/>
              <a:t>Scaled pipeline for feature magnitude sensitive models</a:t>
            </a:r>
          </a:p>
          <a:p>
            <a:pPr lvl="1"/>
            <a:r>
              <a:rPr lang="en-US" dirty="0"/>
              <a:t>Non-scaled pipeline for tree-based models</a:t>
            </a:r>
          </a:p>
          <a:p>
            <a:pPr lvl="1"/>
            <a:r>
              <a:rPr lang="en-US" dirty="0"/>
              <a:t>Ensures that each model receives the correct preprocessed data to improve performance while preventing data leakage during cross validation</a:t>
            </a:r>
          </a:p>
          <a:p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425635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FAD153-7958-5B24-9A90-C062C032D0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Techniques / Models Used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F0E51-3500-23A8-0034-CA7E17519F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Logistic Regression</a:t>
            </a:r>
          </a:p>
          <a:p>
            <a:pPr lvl="1"/>
            <a:r>
              <a:rPr lang="en-US" dirty="0"/>
              <a:t>Its simplicity and interpretability can serve as a baseline model while providing insight into linear relationship between features and our target variable</a:t>
            </a:r>
          </a:p>
          <a:p>
            <a:r>
              <a:rPr lang="en-US" dirty="0"/>
              <a:t>Decision Trees</a:t>
            </a:r>
          </a:p>
          <a:p>
            <a:pPr lvl="1"/>
            <a:r>
              <a:rPr lang="en-US" dirty="0"/>
              <a:t>Capture nonlinear relationships or interactions between our variables </a:t>
            </a:r>
          </a:p>
          <a:p>
            <a:r>
              <a:rPr lang="en-US" dirty="0"/>
              <a:t>Random Forest</a:t>
            </a:r>
          </a:p>
          <a:p>
            <a:pPr lvl="1"/>
            <a:r>
              <a:rPr lang="en-US" dirty="0"/>
              <a:t>Improves upon Decision Trees by aggregating multiple trees, reducing variance and improving generalization</a:t>
            </a:r>
          </a:p>
          <a:p>
            <a:r>
              <a:rPr lang="en-US" dirty="0"/>
              <a:t>K-Nearest Neighbors (KNN)</a:t>
            </a:r>
          </a:p>
          <a:p>
            <a:pPr lvl="1"/>
            <a:r>
              <a:rPr lang="en-US" dirty="0"/>
              <a:t>Non-parametric, instance-based learning method that classifies samples based on proximity to neighbors. </a:t>
            </a:r>
          </a:p>
          <a:p>
            <a:r>
              <a:rPr lang="en-US" dirty="0"/>
              <a:t>Gradient Boosting</a:t>
            </a:r>
          </a:p>
          <a:p>
            <a:pPr lvl="1"/>
            <a:r>
              <a:rPr lang="en-US" dirty="0"/>
              <a:t>Builds models sequentially, correcting previous errors at each step. Known for strong performance on structured datasets </a:t>
            </a:r>
          </a:p>
        </p:txBody>
      </p:sp>
    </p:spTree>
    <p:extLst>
      <p:ext uri="{BB962C8B-B14F-4D97-AF65-F5344CB8AC3E}">
        <p14:creationId xmlns:p14="http://schemas.microsoft.com/office/powerpoint/2010/main" val="29913717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804E86-517F-3055-2987-652F5B082F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375CF7-B05D-702B-00CA-C38D5E83D8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 Set</a:t>
            </a:r>
          </a:p>
          <a:p>
            <a:pPr lvl="1"/>
            <a:r>
              <a:rPr lang="en-US" dirty="0"/>
              <a:t>Yeh, I. (2009). Default of Credit Card Clients [Dataset]. UCI Machine Learning Repository. https://doi.org/10.24432/C55S3H.</a:t>
            </a:r>
          </a:p>
        </p:txBody>
      </p:sp>
    </p:spTree>
    <p:extLst>
      <p:ext uri="{BB962C8B-B14F-4D97-AF65-F5344CB8AC3E}">
        <p14:creationId xmlns:p14="http://schemas.microsoft.com/office/powerpoint/2010/main" val="53309062"/>
      </p:ext>
    </p:extLst>
  </p:cSld>
  <p:clrMapOvr>
    <a:masterClrMapping/>
  </p:clrMapOvr>
</p:sld>
</file>

<file path=ppt/theme/theme1.xml><?xml version="1.0" encoding="utf-8"?>
<a:theme xmlns:a="http://schemas.openxmlformats.org/drawingml/2006/main" name="View">
  <a:themeElements>
    <a:clrScheme name="View">
      <a:dk1>
        <a:srgbClr val="000000"/>
      </a:dk1>
      <a:lt1>
        <a:srgbClr val="FFFFFF"/>
      </a:lt1>
      <a:dk2>
        <a:srgbClr val="46464A"/>
      </a:dk2>
      <a:lt2>
        <a:srgbClr val="D6D3CC"/>
      </a:lt2>
      <a:accent1>
        <a:srgbClr val="6F6F74"/>
      </a:accent1>
      <a:accent2>
        <a:srgbClr val="92A9B9"/>
      </a:accent2>
      <a:accent3>
        <a:srgbClr val="A7B789"/>
      </a:accent3>
      <a:accent4>
        <a:srgbClr val="B9A489"/>
      </a:accent4>
      <a:accent5>
        <a:srgbClr val="8D6374"/>
      </a:accent5>
      <a:accent6>
        <a:srgbClr val="9B7362"/>
      </a:accent6>
      <a:hlink>
        <a:srgbClr val="67AABF"/>
      </a:hlink>
      <a:folHlink>
        <a:srgbClr val="ABAFA5"/>
      </a:folHlink>
    </a:clrScheme>
    <a:fontScheme name="View">
      <a:maj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View">
      <a:fillStyleLst>
        <a:solidFill>
          <a:schemeClr val="phClr"/>
        </a:solidFill>
        <a:solidFill>
          <a:schemeClr val="phClr">
            <a:tint val="60000"/>
            <a:satMod val="120000"/>
          </a:schemeClr>
        </a:solidFill>
        <a:solidFill>
          <a:schemeClr val="phClr">
            <a:shade val="75000"/>
            <a:satMod val="16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3970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95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240" dir="5400000" algn="tl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9525" prstMaterial="flat">
            <a:bevelT w="0" h="0" prst="coolSlant"/>
            <a:contourClr>
              <a:schemeClr val="phClr">
                <a:shade val="35000"/>
                <a:satMod val="130000"/>
              </a:schemeClr>
            </a:contourClr>
          </a:sp3d>
        </a:effectStyle>
        <a:effectStyle>
          <a:effectLst>
            <a:outerShdw blurRad="76200" dist="25400" dir="5400000" algn="tl" rotWithShape="0">
              <a:srgbClr val="000000">
                <a:alpha val="5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19050" prstMaterial="flat">
            <a:bevelT w="0" h="0" prst="coolSlant"/>
            <a:contourClr>
              <a:schemeClr val="phClr">
                <a:shade val="25000"/>
                <a:satMod val="14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4000"/>
                <a:shade val="98000"/>
                <a:satMod val="130000"/>
                <a:lumMod val="102000"/>
              </a:schemeClr>
            </a:gs>
            <a:gs pos="100000">
              <a:schemeClr val="phClr">
                <a:tint val="98000"/>
                <a:shade val="78000"/>
                <a:satMod val="14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iew" id="{BA0EB5A6-F2D4-4F82-977B-64ADEE4A2A69}" vid="{3969A8A2-35DB-4E3B-8885-16FD2056867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55</TotalTime>
  <Words>520</Words>
  <Application>Microsoft Office PowerPoint</Application>
  <PresentationFormat>Widescreen</PresentationFormat>
  <Paragraphs>48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Century Schoolbook</vt:lpstr>
      <vt:lpstr>Wingdings 2</vt:lpstr>
      <vt:lpstr>View</vt:lpstr>
      <vt:lpstr>Credit Risk Uncovered: A Comparative Study of Classification Models for Default Prediction</vt:lpstr>
      <vt:lpstr>Overview</vt:lpstr>
      <vt:lpstr>Data Overview </vt:lpstr>
      <vt:lpstr>      Original Class Distribution</vt:lpstr>
      <vt:lpstr>Original Class and Age Distribution</vt:lpstr>
      <vt:lpstr>Attribute Distribution</vt:lpstr>
      <vt:lpstr>Preprocessing Techniques</vt:lpstr>
      <vt:lpstr>Techniques / Models Used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Adolph, Ryan</dc:creator>
  <cp:lastModifiedBy>Adolph, Ryan</cp:lastModifiedBy>
  <cp:revision>1</cp:revision>
  <dcterms:created xsi:type="dcterms:W3CDTF">2026-04-28T18:28:57Z</dcterms:created>
  <dcterms:modified xsi:type="dcterms:W3CDTF">2026-04-28T19:24:56Z</dcterms:modified>
</cp:coreProperties>
</file>